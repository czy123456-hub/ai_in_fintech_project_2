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Learning Factors for Stock Market Returns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Linear Filter vs Nonlinear Tree-Based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QRT Challenge &amp;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next-day cross-sectional stock returns</a:t>
            </a:r>
          </a:p>
          <a:p>
            <a:pPr lvl="1"/>
            <a:r>
              <a:t>Training: N = 50 stocks, T ≈ 754 days</a:t>
            </a:r>
          </a:p>
          <a:p>
            <a:pPr lvl="1"/>
            <a:r>
              <a:t>Only past returns available</a:t>
            </a:r>
          </a:p>
          <a:p>
            <a:pPr lvl="1"/>
            <a:r>
              <a:t>Submission: 10 factors with fixed lag window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 cosine similarity over test days</a:t>
            </a:r>
          </a:p>
          <a:p>
            <a:pPr lvl="1"/>
            <a:r>
              <a:t>Scale-invariant – only direction matters</a:t>
            </a:r>
          </a:p>
          <a:p>
            <a:pPr lvl="1"/>
            <a:r>
              <a:t>Sensitive to signs and cross-sectional ranking</a:t>
            </a:r>
          </a:p>
          <a:p>
            <a:pPr lvl="1"/>
            <a:r>
              <a:t>Non-convex objective for model parameters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Baselines and Sanity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search over linear filters</a:t>
            </a:r>
          </a:p>
          <a:p>
            <a:pPr lvl="1"/>
            <a:r>
              <a:t>Lasso regression on lagged returns</a:t>
            </a:r>
          </a:p>
          <a:p>
            <a:pPr lvl="1"/>
            <a:r>
              <a:t>Unregularised SGD on cosine metric</a:t>
            </a:r>
          </a:p>
          <a:p>
            <a:pPr lvl="1"/>
            <a:r>
              <a:t>Cosine scores ≈ 0.05–0.054 (reference level)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I: Linear Filter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Original 10-factor model → rank-1 structure</a:t>
            </a:r>
          </a:p>
          <a:p>
            <a:pPr lvl="1"/>
            <a:r>
              <a:t>Single temporal filter w ∈ ℝ^D</a:t>
            </a:r>
          </a:p>
          <a:p>
            <a:pPr lvl="1"/>
            <a:r>
              <a:t>Cross-sectional profile absorbed by normalisation</a:t>
            </a:r>
          </a:p>
          <a:p>
            <a:pPr lvl="1"/>
            <a:r>
              <a:t>Directly optimised for cosine similarity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Regularised Nesterov SGD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mean cosine − smoothness penalties</a:t>
            </a:r>
          </a:p>
          <a:p>
            <a:pPr lvl="1"/>
            <a:r>
              <a:t>L2 and total-variation penalties on w</a:t>
            </a:r>
          </a:p>
          <a:p>
            <a:pPr lvl="1"/>
            <a:r>
              <a:t>Nesterov momentum for faster, stable convergence</a:t>
            </a:r>
          </a:p>
          <a:p>
            <a:pPr lvl="1"/>
            <a:r>
              <a:t>Yields smooth, interpretable temporal weights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Reconstruction of 10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candidate filters under multiple regularisations</a:t>
            </a:r>
          </a:p>
          <a:p>
            <a:pPr lvl="1"/>
            <a:r>
              <a:t>Select diverse subset using correlation constraints</a:t>
            </a:r>
          </a:p>
          <a:p>
            <a:pPr lvl="1"/>
            <a:r>
              <a:t>Gram–Schmidt + least-squares projection</a:t>
            </a:r>
          </a:p>
          <a:p>
            <a:pPr lvl="1"/>
            <a:r>
              <a:t>Normalise factors; retain predictive directionality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II: Nonlinear Tree-Based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XGBoost, Random Forest, Bagging</a:t>
            </a:r>
          </a:p>
          <a:p>
            <a:pPr lvl="1"/>
            <a:r>
              <a:t>Rolling-window training (train/validation/step)</a:t>
            </a:r>
          </a:p>
          <a:p>
            <a:pPr lvl="1"/>
            <a:r>
              <a:t>Extract latent factors from tree structure</a:t>
            </a:r>
          </a:p>
          <a:p>
            <a:pPr lvl="1"/>
            <a:r>
              <a:t>Models trained to minimise MSE, not cosine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Regularised linear filter: M ≈ 0.0784</a:t>
            </a:r>
          </a:p>
          <a:p>
            <a:pPr lvl="1"/>
            <a:r>
              <a:t>Baselines: M ≈ 0.053–0.054</a:t>
            </a:r>
          </a:p>
          <a:p>
            <a:pPr lvl="1"/>
            <a:r>
              <a:t>XGBoost: test cosine ≈ 0.021</a:t>
            </a:r>
          </a:p>
          <a:p>
            <a:pPr lvl="1"/>
            <a:r>
              <a:t>Bagging / Random Forest: near-zero or negative alignment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Analysis and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filter: stable positive cosine across regimes</a:t>
            </a:r>
          </a:p>
          <a:p>
            <a:pPr lvl="1"/>
            <a:r>
              <a:t>Tree models: higher variance; negative episodes</a:t>
            </a:r>
          </a:p>
          <a:p>
            <a:pPr lvl="1"/>
            <a:r>
              <a:t>Linear factors: smooth cross-sectional tilts</a:t>
            </a:r>
          </a:p>
          <a:p>
            <a:pPr lvl="1"/>
            <a:r>
              <a:t>Trees: spiky idiosyncratic bets hurt cosine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 alignment more important than model complexity</a:t>
            </a:r>
          </a:p>
          <a:p>
            <a:pPr lvl="1"/>
            <a:r>
              <a:t>Regularised linear filter strikes good bias–variance trade-off</a:t>
            </a:r>
          </a:p>
          <a:p>
            <a:pPr lvl="1"/>
            <a:r>
              <a:t>Tree-based models useful for diagnostics, not final forecasts here</a:t>
            </a:r>
          </a:p>
          <a:p>
            <a:pPr lvl="1"/>
            <a:r>
              <a:t>Hybrid metric-aligned architectures are a promising direction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